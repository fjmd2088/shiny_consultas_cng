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DDAF083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B3D11F-9ED1-8C25-44CB-B1834BC229AE}" name="ORTIZ SANCHEZ JOSE EDUARDO" initials="JO" userId="S::EDUARDO.ORTIZ@inegi.org.mx::60ac9e44-683c-48ad-aaed-83786e8801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250"/>
    <a:srgbClr val="007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90" y="78"/>
      </p:cViewPr>
      <p:guideLst>
        <p:guide orient="horz" pos="2160"/>
        <p:guide pos="372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DDAF08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F5714E-2410-40E5-B6EF-3F81B7ED6659}" authorId="{49B3D11F-9ED1-8C25-44CB-B1834BC229AE}" created="2024-11-14T15:00:56.0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9235634" sldId="256"/>
      <ac:spMk id="32" creationId="{77A8C228-ACBF-2D9D-95B9-DA384A107EA0}"/>
    </ac:deMkLst>
    <p188:txBody>
      <a:bodyPr/>
      <a:lstStyle/>
      <a:p>
        <a:r>
          <a:rPr lang="es-MX"/>
          <a:t>Lista desplegable con el nombre de las 32 EF. Recuadro a la izquierda de autollenado con clave AGEE.</a:t>
        </a:r>
      </a:p>
    </p188:txBody>
  </p188:cm>
  <p188:cm id="{D6F91AAA-98AC-4EAE-92D8-537D88A7569C}" authorId="{49B3D11F-9ED1-8C25-44CB-B1834BC229AE}" created="2024-11-14T15:11:58.3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9235634" sldId="256"/>
      <ac:spMk id="6" creationId="{DA604C3B-2C26-F694-F5F6-5A6384D1A085}"/>
    </ac:deMkLst>
    <p188:txBody>
      <a:bodyPr/>
      <a:lstStyle/>
      <a:p>
        <a:r>
          <a:rPr lang="es-MX"/>
          <a:t>Lista desplegable con los 16 programas [creo que esta plataforma (disculpen si no es el término correcto) debería considerase para todos los CNG y no solos los del ámbito estatal]. Recuadro de la izquierda de autollenado. 
Para estos numerales podríamos retomar las claves que censos ya tiene asignadas a los programas.  </a:t>
        </a:r>
      </a:p>
    </p188:txBody>
  </p188:cm>
  <p188:cm id="{CD4E2F9F-295A-4B85-9608-53D1C8B0A3FC}" authorId="{49B3D11F-9ED1-8C25-44CB-B1834BC229AE}" created="2024-11-14T15:13:38.9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9235634" sldId="256"/>
      <ac:spMk id="14" creationId="{B114763D-DBD8-A9A9-9ED2-7B6C722EE63F}"/>
    </ac:deMkLst>
    <p188:txBody>
      <a:bodyPr/>
      <a:lstStyle/>
      <a:p>
        <a:r>
          <a:rPr lang="es-MX"/>
          <a:t>Lista desplegable.
Deberán desplegarse los módulos correspondientes al programa previamente seleccionado. 
Por ejemplo, para el CNGE deberá desplegarse del 1 al 7.</a:t>
        </a:r>
      </a:p>
    </p188:txBody>
  </p188:cm>
  <p188:cm id="{17DEC5EC-4DF9-4BF5-A323-2C22373BF946}" authorId="{49B3D11F-9ED1-8C25-44CB-B1834BC229AE}" created="2024-11-14T15:13:57.2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9235634" sldId="256"/>
      <ac:spMk id="15" creationId="{16D76A94-D772-BCD4-8387-F5A380097DBC}"/>
    </ac:deMkLst>
    <p188:txBody>
      <a:bodyPr/>
      <a:lstStyle/>
      <a:p>
        <a:r>
          <a:rPr lang="es-MX"/>
          <a:t>Lista desplegable.
Deberán desplegarse las secciones del módulo previamente seleccionado. 
Por ejemplo, para el módulo 1 del CNGE se deberá desplegar de la I a la XII.</a:t>
        </a:r>
      </a:p>
    </p188:txBody>
  </p188:cm>
  <p188:cm id="{41C2B388-062A-43AA-BCEE-2D4455316C7F}" authorId="{49B3D11F-9ED1-8C25-44CB-B1834BC229AE}" created="2024-11-14T15:17:15.1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9235634" sldId="256"/>
      <ac:spMk id="16" creationId="{67DA58C2-440F-B802-D8DD-3C4228EF97CB}"/>
    </ac:deMkLst>
    <p188:txBody>
      <a:bodyPr/>
      <a:lstStyle/>
      <a:p>
        <a:r>
          <a:rPr lang="es-MX"/>
          <a:t>Lista desplegable.
Deberán desplegarse las preguntas de la sección previamente seleccionada. 
Por ejemplo, para la sección V del módulo 1 del CNGE se deberá desplegar de la 5.1 a la 5.38.</a:t>
        </a:r>
      </a:p>
    </p188:txBody>
  </p188:cm>
  <p188:cm id="{6E167293-D7BD-43ED-89FA-979D9E17E9A4}" authorId="{49B3D11F-9ED1-8C25-44CB-B1834BC229AE}" created="2024-11-14T15:19:22.7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9235634" sldId="256"/>
      <ac:spMk id="20" creationId="{C32A6D5E-EEF3-B38D-B63E-4EADC7CC9258}"/>
    </ac:deMkLst>
    <p188:txBody>
      <a:bodyPr/>
      <a:lstStyle/>
      <a:p>
        <a:r>
          <a:rPr lang="es-MX"/>
          <a:t>Limitar a 500 palabras, si es posible. 
Esto obligaría a las personas solicitantes a ser sucintas. </a:t>
        </a:r>
      </a:p>
    </p188:txBody>
  </p188:cm>
  <p188:cm id="{BA532999-097B-4057-BAC9-734D5EBEECD6}" authorId="{49B3D11F-9ED1-8C25-44CB-B1834BC229AE}" created="2024-11-14T15:20:05.7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9235634" sldId="256"/>
      <ac:spMk id="22" creationId="{361A086C-DE3B-BEFE-0606-8C3676657665}"/>
    </ac:deMkLst>
    <p188:txBody>
      <a:bodyPr/>
      <a:lstStyle/>
      <a:p>
        <a:r>
          <a:rPr lang="es-MX"/>
          <a:t>Este campo será opcional de llenar.
Aquí se debe permitir almacenar un archivo Excel, que es generalmente lo que solicitamos para analizar la consulta.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B698D-9958-AC3A-D232-C3B77CA22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1965D1-BC3B-8795-66FE-7FACB0266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2FC10E-FFC1-4622-1181-5F64ACA3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93BEF2-D4CD-3E3B-0570-C44D2B0B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44A361-2397-EAC0-770B-8F6B03BA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8757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DD8AC-5ADC-FF51-6515-C65A0B7B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8E0F6C-E5C2-D130-6571-6827CEB39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B64FF3-0FC6-109C-3B73-6191E502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73D8DB-EB3B-BADC-0A71-56033843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DA8B67-78A9-CFB3-8CEE-6498A637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942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5E6B7-88D2-244A-AC95-6B6D145C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3222E3-B9D8-4C72-22D8-A9A3207ED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63A25B-AD58-8E3B-8A0D-BA8C0AB1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F44092-57CA-30F4-0634-82F50314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A5CDE1-E6D6-7D61-5272-040BC389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47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7B5E9-0931-8E72-5066-DA4558FB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443919-7F50-789E-B79D-05DE41ED6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20B9A5-80E2-89A2-7679-BB4BF2A44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8032C-6E70-73C5-F8D7-02E90D40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710A78-AFB3-3ACB-8B66-C455C515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AC6177-E22D-09D0-7D39-336FC4A0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144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A969B-908B-F5B8-2489-E10D79CD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C2E63C-6CD2-5B82-6C01-8EEBB679A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7E5E5C-A1B4-C661-698B-8CDC277D1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9D462A-2503-F32E-8876-1B6D1714F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E801B3-43DC-46F1-7713-A7BB88522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D3F972-C76E-AAC3-7647-AF2BA35E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E35DB3-BAD2-5227-4B33-3093F93AB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8876DC-0CF3-9F5B-E330-F2CC76A5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BA33B-6389-EAB3-A69E-A8DC03BB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C80C3B-E2C9-403B-F5FE-BDA0E979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D20A4C-9088-5F0B-E6A8-4DE4CCC5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C4277F-A777-44A4-BED1-8E6E440C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0093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ECCF66C-DB51-685E-CACE-C102B395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6F80CF-8123-3030-9157-D74DE8B9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EEAE09-F6F2-C336-5F3C-8F642EF2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2494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3D646-AD28-6B30-BD9C-A36EB2230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B5C875-BA80-4F75-BFC5-949458D6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0487F1-8249-78E8-3C1A-B88360CEF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7C09B7-96FC-1F92-3DF7-B3CF9B1D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F220EB-CBA7-37CB-F6AA-CEE03F33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03CD5E-008F-6C9E-8DD7-8D0CC1EA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088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CE5A9-E8EF-EC26-63D3-E2A551C4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947C7D-B742-FA84-A06E-C71ADC2B2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548CD9-C48D-FDA1-7691-45556CD49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68E0A4-6E1A-00D5-7A59-CD4DF4B2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046CA5-B734-5292-37A0-5A81A019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899476-0919-624F-97AB-AD8A2F9D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885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49EF2-7261-24FF-C188-68ABE773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813A37-4ABA-34AD-EC35-740A0B9B7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603FE2-956F-637D-B7EE-9E70B6F5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28A3EF-6396-B060-AFC9-59D6A851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E8102D-D3FD-2C5B-D058-C1584E60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231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C0F171-5C1F-68D6-5650-6424F7F4E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490ED1-299D-0670-C999-BCDDD6FC0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00801D-2D71-273A-BC8F-2A643B38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D6E492-33A0-4724-7B8B-CB6732ED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40CCA4-4F91-7F3A-21D9-CA6C8F8E2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162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D1567E-93EA-842F-4741-90DC86C6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12D985-9998-1FE1-632C-1A550676B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6B2D7F-4047-95F4-86A1-D5D774599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5D9ED-0281-4344-B6D9-766CD9361E5E}" type="datetimeFigureOut">
              <a:rPr lang="es-MX" smtClean="0"/>
              <a:t>14/11/2024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D8E18B-5A18-D3FB-D452-D752079CA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7A3870-5BF8-45C9-5B82-48DBE8D29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05CF8-ED92-44E3-91FD-46BCBDF8DD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029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DDAF08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48B4A70-BE0E-EE8B-EACA-B1131A6FCA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" y="0"/>
            <a:ext cx="12187580" cy="6858000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592E3BEC-E631-162B-35F8-4F68309487E5}"/>
              </a:ext>
            </a:extLst>
          </p:cNvPr>
          <p:cNvGrpSpPr/>
          <p:nvPr/>
        </p:nvGrpSpPr>
        <p:grpSpPr>
          <a:xfrm>
            <a:off x="396105" y="3905866"/>
            <a:ext cx="5029141" cy="1046279"/>
            <a:chOff x="142568" y="2051869"/>
            <a:chExt cx="5029141" cy="1046279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DA604C3B-2C26-F694-F5F6-5A6384D1A085}"/>
                </a:ext>
              </a:extLst>
            </p:cNvPr>
            <p:cNvSpPr/>
            <p:nvPr/>
          </p:nvSpPr>
          <p:spPr>
            <a:xfrm>
              <a:off x="1037304" y="2051869"/>
              <a:ext cx="4134405" cy="457200"/>
            </a:xfrm>
            <a:prstGeom prst="roundRect">
              <a:avLst/>
            </a:prstGeom>
            <a:solidFill>
              <a:srgbClr val="143250"/>
            </a:solidFill>
            <a:ln>
              <a:solidFill>
                <a:srgbClr val="1432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Programa</a:t>
              </a: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369BFA4B-F78B-C8F7-DCDB-3A7CC7415142}"/>
                </a:ext>
              </a:extLst>
            </p:cNvPr>
            <p:cNvSpPr/>
            <p:nvPr/>
          </p:nvSpPr>
          <p:spPr>
            <a:xfrm>
              <a:off x="1037304" y="2640948"/>
              <a:ext cx="4134405" cy="457200"/>
            </a:xfrm>
            <a:prstGeom prst="roundRect">
              <a:avLst/>
            </a:prstGeom>
            <a:noFill/>
            <a:ln w="28575">
              <a:solidFill>
                <a:srgbClr val="1432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rgbClr val="143250"/>
                  </a:solidFill>
                </a:rPr>
                <a:t>Censo Nacional de Gobierno Estatales</a:t>
              </a: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E8F9FA4B-1864-466E-3D6D-CEBCF3173CFC}"/>
                </a:ext>
              </a:extLst>
            </p:cNvPr>
            <p:cNvSpPr/>
            <p:nvPr/>
          </p:nvSpPr>
          <p:spPr>
            <a:xfrm>
              <a:off x="142568" y="2640948"/>
              <a:ext cx="639097" cy="457200"/>
            </a:xfrm>
            <a:prstGeom prst="roundRect">
              <a:avLst/>
            </a:prstGeom>
            <a:solidFill>
              <a:srgbClr val="143250"/>
            </a:solidFill>
            <a:ln w="28575">
              <a:solidFill>
                <a:srgbClr val="1432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444A3A9-3A46-A76E-CBA3-EC896D574BD3}"/>
              </a:ext>
            </a:extLst>
          </p:cNvPr>
          <p:cNvGrpSpPr/>
          <p:nvPr/>
        </p:nvGrpSpPr>
        <p:grpSpPr>
          <a:xfrm>
            <a:off x="394557" y="5358586"/>
            <a:ext cx="5032237" cy="1034226"/>
            <a:chOff x="386027" y="4977586"/>
            <a:chExt cx="5032237" cy="1034226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D78D2E0D-390B-7F45-2F76-724077336927}"/>
                </a:ext>
              </a:extLst>
            </p:cNvPr>
            <p:cNvGrpSpPr/>
            <p:nvPr/>
          </p:nvGrpSpPr>
          <p:grpSpPr>
            <a:xfrm>
              <a:off x="386027" y="4983118"/>
              <a:ext cx="1260001" cy="1028694"/>
              <a:chOff x="218387" y="4983118"/>
              <a:chExt cx="1260001" cy="1028694"/>
            </a:xfrm>
          </p:grpSpPr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B114763D-DBD8-A9A9-9ED2-7B6C722EE63F}"/>
                  </a:ext>
                </a:extLst>
              </p:cNvPr>
              <p:cNvSpPr/>
              <p:nvPr/>
            </p:nvSpPr>
            <p:spPr>
              <a:xfrm>
                <a:off x="218387" y="4983118"/>
                <a:ext cx="1260000" cy="457200"/>
              </a:xfrm>
              <a:prstGeom prst="roundRect">
                <a:avLst/>
              </a:prstGeom>
              <a:solidFill>
                <a:srgbClr val="0075BD"/>
              </a:solidFill>
              <a:ln>
                <a:solidFill>
                  <a:srgbClr val="0075B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Módulo</a:t>
                </a:r>
              </a:p>
            </p:txBody>
          </p:sp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3B5FEB8E-8C67-94AC-600E-FCF2B3981F30}"/>
                  </a:ext>
                </a:extLst>
              </p:cNvPr>
              <p:cNvSpPr/>
              <p:nvPr/>
            </p:nvSpPr>
            <p:spPr>
              <a:xfrm>
                <a:off x="218388" y="5554612"/>
                <a:ext cx="1260000" cy="457200"/>
              </a:xfrm>
              <a:prstGeom prst="roundRect">
                <a:avLst/>
              </a:prstGeom>
              <a:noFill/>
              <a:ln w="28575">
                <a:solidFill>
                  <a:srgbClr val="0075B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rgbClr val="0075BD"/>
                    </a:solidFill>
                  </a:rPr>
                  <a:t>1</a:t>
                </a:r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4A78E708-1F6B-4DA4-8277-3892AC60AAFB}"/>
                </a:ext>
              </a:extLst>
            </p:cNvPr>
            <p:cNvGrpSpPr/>
            <p:nvPr/>
          </p:nvGrpSpPr>
          <p:grpSpPr>
            <a:xfrm>
              <a:off x="2265682" y="4977586"/>
              <a:ext cx="1269832" cy="1034226"/>
              <a:chOff x="2524786" y="3486144"/>
              <a:chExt cx="1269832" cy="1034226"/>
            </a:xfrm>
          </p:grpSpPr>
          <p:sp>
            <p:nvSpPr>
              <p:cNvPr id="15" name="Rectángulo: esquinas redondeadas 14">
                <a:extLst>
                  <a:ext uri="{FF2B5EF4-FFF2-40B4-BE49-F238E27FC236}">
                    <a16:creationId xmlns:a16="http://schemas.microsoft.com/office/drawing/2014/main" id="{16D76A94-D772-BCD4-8387-F5A380097DBC}"/>
                  </a:ext>
                </a:extLst>
              </p:cNvPr>
              <p:cNvSpPr/>
              <p:nvPr/>
            </p:nvSpPr>
            <p:spPr>
              <a:xfrm>
                <a:off x="2534618" y="3486144"/>
                <a:ext cx="1260000" cy="457200"/>
              </a:xfrm>
              <a:prstGeom prst="roundRect">
                <a:avLst/>
              </a:prstGeom>
              <a:solidFill>
                <a:srgbClr val="0075BD"/>
              </a:solidFill>
              <a:ln>
                <a:solidFill>
                  <a:srgbClr val="0075B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Sección</a:t>
                </a:r>
              </a:p>
            </p:txBody>
          </p:sp>
          <p:sp>
            <p:nvSpPr>
              <p:cNvPr id="18" name="Rectángulo: esquinas redondeadas 17">
                <a:extLst>
                  <a:ext uri="{FF2B5EF4-FFF2-40B4-BE49-F238E27FC236}">
                    <a16:creationId xmlns:a16="http://schemas.microsoft.com/office/drawing/2014/main" id="{CC5EF733-E6DA-1BFF-7EDB-FF7499C4B0D0}"/>
                  </a:ext>
                </a:extLst>
              </p:cNvPr>
              <p:cNvSpPr/>
              <p:nvPr/>
            </p:nvSpPr>
            <p:spPr>
              <a:xfrm>
                <a:off x="2524786" y="4063170"/>
                <a:ext cx="1260000" cy="457200"/>
              </a:xfrm>
              <a:prstGeom prst="roundRect">
                <a:avLst/>
              </a:prstGeom>
              <a:noFill/>
              <a:ln w="28575">
                <a:solidFill>
                  <a:srgbClr val="0075B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rgbClr val="0075BD"/>
                    </a:solidFill>
                  </a:rPr>
                  <a:t>V</a:t>
                </a:r>
              </a:p>
            </p:txBody>
          </p:sp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1AE760B2-BB4F-EFA0-2B13-C6B917DAAA9C}"/>
                </a:ext>
              </a:extLst>
            </p:cNvPr>
            <p:cNvGrpSpPr/>
            <p:nvPr/>
          </p:nvGrpSpPr>
          <p:grpSpPr>
            <a:xfrm>
              <a:off x="4155168" y="4977586"/>
              <a:ext cx="1263096" cy="1034226"/>
              <a:chOff x="4832904" y="3486144"/>
              <a:chExt cx="1263096" cy="1034226"/>
            </a:xfrm>
          </p:grpSpPr>
          <p:sp>
            <p:nvSpPr>
              <p:cNvPr id="16" name="Rectángulo: esquinas redondeadas 15">
                <a:extLst>
                  <a:ext uri="{FF2B5EF4-FFF2-40B4-BE49-F238E27FC236}">
                    <a16:creationId xmlns:a16="http://schemas.microsoft.com/office/drawing/2014/main" id="{67DA58C2-440F-B802-D8DD-3C4228EF97CB}"/>
                  </a:ext>
                </a:extLst>
              </p:cNvPr>
              <p:cNvSpPr/>
              <p:nvPr/>
            </p:nvSpPr>
            <p:spPr>
              <a:xfrm>
                <a:off x="4836000" y="3486144"/>
                <a:ext cx="1260000" cy="457200"/>
              </a:xfrm>
              <a:prstGeom prst="roundRect">
                <a:avLst/>
              </a:prstGeom>
              <a:solidFill>
                <a:srgbClr val="0075BD"/>
              </a:solidFill>
              <a:ln>
                <a:solidFill>
                  <a:srgbClr val="0075B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Pregunta</a:t>
                </a:r>
              </a:p>
            </p:txBody>
          </p:sp>
          <p:sp>
            <p:nvSpPr>
              <p:cNvPr id="19" name="Rectángulo: esquinas redondeadas 18">
                <a:extLst>
                  <a:ext uri="{FF2B5EF4-FFF2-40B4-BE49-F238E27FC236}">
                    <a16:creationId xmlns:a16="http://schemas.microsoft.com/office/drawing/2014/main" id="{8F4E9C05-91DE-E334-1335-36E927DF6DF3}"/>
                  </a:ext>
                </a:extLst>
              </p:cNvPr>
              <p:cNvSpPr/>
              <p:nvPr/>
            </p:nvSpPr>
            <p:spPr>
              <a:xfrm>
                <a:off x="4832904" y="4063170"/>
                <a:ext cx="1260000" cy="457200"/>
              </a:xfrm>
              <a:prstGeom prst="roundRect">
                <a:avLst/>
              </a:prstGeom>
              <a:noFill/>
              <a:ln w="28575">
                <a:solidFill>
                  <a:srgbClr val="0075B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rgbClr val="0075BD"/>
                    </a:solidFill>
                  </a:rPr>
                  <a:t>5.5</a:t>
                </a:r>
              </a:p>
            </p:txBody>
          </p:sp>
        </p:grpSp>
      </p:grp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32A6D5E-EEF3-B38D-B63E-4EADC7CC9258}"/>
              </a:ext>
            </a:extLst>
          </p:cNvPr>
          <p:cNvSpPr/>
          <p:nvPr/>
        </p:nvSpPr>
        <p:spPr>
          <a:xfrm>
            <a:off x="7031049" y="501441"/>
            <a:ext cx="4320000" cy="457200"/>
          </a:xfrm>
          <a:prstGeom prst="roundRect">
            <a:avLst/>
          </a:prstGeom>
          <a:solidFill>
            <a:srgbClr val="143250"/>
          </a:solidFill>
          <a:ln>
            <a:solidFill>
              <a:srgbClr val="1432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Descripción de la duda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B231631-C542-BE92-5B01-4220FD6540F4}"/>
              </a:ext>
            </a:extLst>
          </p:cNvPr>
          <p:cNvSpPr/>
          <p:nvPr/>
        </p:nvSpPr>
        <p:spPr>
          <a:xfrm>
            <a:off x="7059561" y="1074787"/>
            <a:ext cx="4320000" cy="4472573"/>
          </a:xfrm>
          <a:prstGeom prst="rect">
            <a:avLst/>
          </a:prstGeom>
          <a:noFill/>
          <a:ln w="28575">
            <a:solidFill>
              <a:srgbClr val="1432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dirty="0">
                <a:solidFill>
                  <a:srgbClr val="143250"/>
                </a:solidFill>
              </a:rPr>
              <a:t>El informante solicita conocer en qué función debe reportar el personal que realiza funciones de auditoría interna, toda vez que los órganos internos de control no realizan funciones de investigación, sustanciación y resolución de faltas administrativas.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1D86F57-66AF-DE1B-4C43-165EC878A1D3}"/>
              </a:ext>
            </a:extLst>
          </p:cNvPr>
          <p:cNvGrpSpPr/>
          <p:nvPr/>
        </p:nvGrpSpPr>
        <p:grpSpPr>
          <a:xfrm>
            <a:off x="6985329" y="5889892"/>
            <a:ext cx="4378992" cy="457200"/>
            <a:chOff x="7000569" y="5554612"/>
            <a:chExt cx="4378992" cy="457200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361A086C-DE3B-BEFE-0606-8C3676657665}"/>
                </a:ext>
              </a:extLst>
            </p:cNvPr>
            <p:cNvSpPr/>
            <p:nvPr/>
          </p:nvSpPr>
          <p:spPr>
            <a:xfrm>
              <a:off x="7000569" y="5554612"/>
              <a:ext cx="1700981" cy="457200"/>
            </a:xfrm>
            <a:prstGeom prst="roundRect">
              <a:avLst/>
            </a:prstGeom>
            <a:solidFill>
              <a:srgbClr val="0075BD"/>
            </a:solidFill>
            <a:ln>
              <a:solidFill>
                <a:srgbClr val="0075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Adjuntar archivo</a:t>
              </a:r>
            </a:p>
          </p:txBody>
        </p:sp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65978EC3-0D84-8DC0-3D4F-F0105302CCB3}"/>
                </a:ext>
              </a:extLst>
            </p:cNvPr>
            <p:cNvSpPr/>
            <p:nvPr/>
          </p:nvSpPr>
          <p:spPr>
            <a:xfrm>
              <a:off x="8974747" y="5554612"/>
              <a:ext cx="2404814" cy="457200"/>
            </a:xfrm>
            <a:prstGeom prst="roundRect">
              <a:avLst/>
            </a:prstGeom>
            <a:noFill/>
            <a:ln w="28575">
              <a:solidFill>
                <a:srgbClr val="0075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b="1" dirty="0">
                <a:solidFill>
                  <a:srgbClr val="143250"/>
                </a:solidFill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5BCDCBB-5A05-0C06-1470-72889177516A}"/>
              </a:ext>
            </a:extLst>
          </p:cNvPr>
          <p:cNvGrpSpPr/>
          <p:nvPr/>
        </p:nvGrpSpPr>
        <p:grpSpPr>
          <a:xfrm>
            <a:off x="396105" y="2453145"/>
            <a:ext cx="5029141" cy="1046279"/>
            <a:chOff x="142568" y="2051869"/>
            <a:chExt cx="5029141" cy="1046279"/>
          </a:xfrm>
        </p:grpSpPr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AAC86B81-CF79-BDD7-5B90-F9AA0893A2E7}"/>
                </a:ext>
              </a:extLst>
            </p:cNvPr>
            <p:cNvSpPr/>
            <p:nvPr/>
          </p:nvSpPr>
          <p:spPr>
            <a:xfrm>
              <a:off x="1037304" y="2051869"/>
              <a:ext cx="4134405" cy="457200"/>
            </a:xfrm>
            <a:prstGeom prst="roundRect">
              <a:avLst/>
            </a:prstGeom>
            <a:solidFill>
              <a:srgbClr val="143250"/>
            </a:solidFill>
            <a:ln>
              <a:solidFill>
                <a:srgbClr val="1432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Entidad federativa relacionada</a:t>
              </a:r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77A8C228-ACBF-2D9D-95B9-DA384A107EA0}"/>
                </a:ext>
              </a:extLst>
            </p:cNvPr>
            <p:cNvSpPr/>
            <p:nvPr/>
          </p:nvSpPr>
          <p:spPr>
            <a:xfrm>
              <a:off x="1037304" y="2640948"/>
              <a:ext cx="4134405" cy="457200"/>
            </a:xfrm>
            <a:prstGeom prst="roundRect">
              <a:avLst/>
            </a:prstGeom>
            <a:noFill/>
            <a:ln w="28575">
              <a:solidFill>
                <a:srgbClr val="1432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rgbClr val="143250"/>
                  </a:solidFill>
                </a:rPr>
                <a:t>México</a:t>
              </a:r>
            </a:p>
          </p:txBody>
        </p:sp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E82FF3BA-A642-D6FB-71A1-ACD63808BAF6}"/>
                </a:ext>
              </a:extLst>
            </p:cNvPr>
            <p:cNvSpPr/>
            <p:nvPr/>
          </p:nvSpPr>
          <p:spPr>
            <a:xfrm>
              <a:off x="142568" y="2640948"/>
              <a:ext cx="639097" cy="457200"/>
            </a:xfrm>
            <a:prstGeom prst="roundRect">
              <a:avLst/>
            </a:prstGeom>
            <a:solidFill>
              <a:srgbClr val="143250"/>
            </a:solidFill>
            <a:ln w="28575">
              <a:solidFill>
                <a:srgbClr val="1432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15</a:t>
              </a:r>
            </a:p>
          </p:txBody>
        </p: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C5DC320-6E0E-477E-0F5C-8E4D4FD950D6}"/>
              </a:ext>
            </a:extLst>
          </p:cNvPr>
          <p:cNvSpPr txBox="1"/>
          <p:nvPr/>
        </p:nvSpPr>
        <p:spPr>
          <a:xfrm>
            <a:off x="167640" y="396240"/>
            <a:ext cx="57489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rgbClr val="143250"/>
                </a:solidFill>
              </a:rPr>
              <a:t>Bienvenidas y bienvenidos al sistema de registro, seguimiento y control de consultas conceptuales de los Censos Nacional de Gobierno 2025. </a:t>
            </a:r>
          </a:p>
          <a:p>
            <a:pPr algn="ctr"/>
            <a:r>
              <a:rPr lang="es-MX" sz="1400" dirty="0">
                <a:solidFill>
                  <a:srgbClr val="143250"/>
                </a:solidFill>
              </a:rPr>
              <a:t>Para una mejor atención de su consulta, le solicitamos por favor leer detenidamente cada uno de los campos solicitados y no dejar alguno en  blanco, con excepción del denominado “Adjuntar archivo”, mismo que es opcional. </a:t>
            </a:r>
          </a:p>
          <a:p>
            <a:pPr algn="ctr"/>
            <a:r>
              <a:rPr lang="es-MX" sz="1400" dirty="0">
                <a:solidFill>
                  <a:srgbClr val="143250"/>
                </a:solidFill>
              </a:rPr>
              <a:t>Es importante tener presente que debe hacer un registro por cada duda, es decir, no puede incluir en una misma entrada  varias dudas, </a:t>
            </a:r>
          </a:p>
        </p:txBody>
      </p:sp>
    </p:spTree>
    <p:extLst>
      <p:ext uri="{BB962C8B-B14F-4D97-AF65-F5344CB8AC3E}">
        <p14:creationId xmlns:p14="http://schemas.microsoft.com/office/powerpoint/2010/main" val="37192356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151</Words>
  <Application>Microsoft Office PowerPoint</Application>
  <PresentationFormat>Panorámica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ORTIZ SANCHEZ JOSE EDUARDO</dc:creator>
  <cp:lastModifiedBy>ORTIZ SANCHEZ JOSE EDUARDO</cp:lastModifiedBy>
  <cp:revision>1</cp:revision>
  <dcterms:created xsi:type="dcterms:W3CDTF">2024-11-14T14:20:54Z</dcterms:created>
  <dcterms:modified xsi:type="dcterms:W3CDTF">2024-11-14T15:24:41Z</dcterms:modified>
</cp:coreProperties>
</file>